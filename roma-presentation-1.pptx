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ckups/bg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1732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羅馬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0" y="26974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538064" y="338328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Shape 3"/>
          <p:cNvSpPr/>
          <p:nvPr/>
        </p:nvSpPr>
        <p:spPr>
          <a:xfrm>
            <a:off x="5867248" y="338328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4"/>
          <p:cNvSpPr/>
          <p:nvPr/>
        </p:nvSpPr>
        <p:spPr>
          <a:xfrm>
            <a:off x="6196432" y="3383280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" name="Shape 5"/>
          <p:cNvSpPr/>
          <p:nvPr/>
        </p:nvSpPr>
        <p:spPr>
          <a:xfrm>
            <a:off x="6525616" y="338328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C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world's roads meet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color direction —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ckup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warmer, more inviting palette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moved from a neutral dark theme to a sunset gradient with four vivid culture accents. The goal: a first impression that feels energetic and welcoming — pulling listeners in — while keeping text and controls easy to read.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40080" y="320954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3081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at first glance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60120" y="3383280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gradient background and warm gold accent feel alive, not clinical.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4078224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95020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color per culture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4251960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Arabic, English, Hindi and Chinese each keep a distinct, vivid identity mark.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946904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8188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preserved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0120" y="5120640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text and translucent surfaces stay legible over the gradient.</a:t>
            </a:r>
            <a:endParaRPr lang="en-US" sz="1200" dirty="0"/>
          </a:p>
        </p:txBody>
      </p:sp>
      <p:pic>
        <p:nvPicPr>
          <p:cNvPr id="14" name="Image 1" descr="/home/claude/mockups/home_en.png">    </p:cNvPr>
          <p:cNvPicPr>
            <a:picLocks noChangeAspect="1"/>
          </p:cNvPicPr>
          <p:nvPr/>
        </p:nvPicPr>
        <p:blipFill>
          <a:blip r:embed="rId2"/>
          <a:srcRect l="0" r="0" t="0" b="11088"/>
          <a:stretch/>
        </p:blipFill>
        <p:spPr>
          <a:xfrm>
            <a:off x="7360920" y="502920"/>
            <a:ext cx="324612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ckup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accent for interaction, four culture marks, one background gradient.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83184" y="1965960"/>
            <a:ext cx="1920240" cy="1554480"/>
          </a:xfrm>
          <a:prstGeom prst="roundRect">
            <a:avLst>
              <a:gd name="adj" fmla="val 9412"/>
            </a:avLst>
          </a:prstGeom>
          <a:solidFill>
            <a:srgbClr val="FFB84D"/>
          </a:solidFill>
          <a:ln/>
        </p:spPr>
      </p:sp>
      <p:sp>
        <p:nvSpPr>
          <p:cNvPr id="6" name="Text 3"/>
          <p:cNvSpPr/>
          <p:nvPr/>
        </p:nvSpPr>
        <p:spPr>
          <a:xfrm>
            <a:off x="783184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3184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#FFB84D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59456" y="1965960"/>
            <a:ext cx="1920240" cy="1554480"/>
          </a:xfrm>
          <a:prstGeom prst="roundRect">
            <a:avLst>
              <a:gd name="adj" fmla="val 9412"/>
            </a:avLst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2959456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59456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#FF6B35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35728" y="1965960"/>
            <a:ext cx="1920240" cy="1554480"/>
          </a:xfrm>
          <a:prstGeom prst="roundRect">
            <a:avLst>
              <a:gd name="adj" fmla="val 9412"/>
            </a:avLst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5135728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135728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#2DD4BF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2000" y="1965960"/>
            <a:ext cx="1920240" cy="1554480"/>
          </a:xfrm>
          <a:prstGeom prst="roundRect">
            <a:avLst>
              <a:gd name="adj" fmla="val 9412"/>
            </a:avLst>
          </a:prstGeom>
          <a:solidFill>
            <a:srgbClr val="EC4899"/>
          </a:solidFill>
          <a:ln/>
        </p:spPr>
      </p:sp>
      <p:sp>
        <p:nvSpPr>
          <p:cNvPr id="15" name="Text 12"/>
          <p:cNvSpPr/>
          <p:nvPr/>
        </p:nvSpPr>
        <p:spPr>
          <a:xfrm>
            <a:off x="7312000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312000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#EC4899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488272" y="1965960"/>
            <a:ext cx="1920240" cy="1554480"/>
          </a:xfrm>
          <a:prstGeom prst="roundRect">
            <a:avLst>
              <a:gd name="adj" fmla="val 9412"/>
            </a:avLst>
          </a:prstGeom>
          <a:solidFill>
            <a:srgbClr val="FBBF24"/>
          </a:solidFill>
          <a:ln/>
        </p:spPr>
      </p:sp>
      <p:sp>
        <p:nvSpPr>
          <p:cNvPr id="18" name="Text 15"/>
          <p:cNvSpPr/>
          <p:nvPr/>
        </p:nvSpPr>
        <p:spPr>
          <a:xfrm>
            <a:off x="9488272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488272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#FBBF24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83184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gradient</a:t>
            </a:r>
            <a:endParaRPr lang="en-US" sz="1300" dirty="0"/>
          </a:p>
        </p:txBody>
      </p:sp>
      <p:pic>
        <p:nvPicPr>
          <p:cNvPr id="21" name="Image 1" descr="/home/claude/mockups/bg_h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3184" y="4343400"/>
            <a:ext cx="10625328" cy="14630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83184" y="4343400"/>
            <a:ext cx="10625328" cy="1463040"/>
          </a:xfrm>
          <a:prstGeom prst="roundRect">
            <a:avLst>
              <a:gd name="adj" fmla="val 8750"/>
            </a:avLst>
          </a:prstGeom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83184" y="5943600"/>
            <a:ext cx="10625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linear-gradient(165deg, #2A1454 → #7A2C7A → #E8623C)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ckup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screen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550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playlists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" y="1828800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culture-rooted playlists, each with its own accent color and cover.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706624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560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track list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2880360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Play, pause and like controls with a clear active-track highlight.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758184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6118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mini player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3931920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 and transport controls stay pinned above navigation.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80974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6634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4983480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Search and Library — the active tab always reads in the accent gold.</a:t>
            </a:r>
            <a:endParaRPr lang="en-US" sz="1200" dirty="0"/>
          </a:p>
        </p:txBody>
      </p:sp>
      <p:pic>
        <p:nvPicPr>
          <p:cNvPr id="16" name="Image 1" descr="/home/claude/mockups/home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65760"/>
            <a:ext cx="3063240" cy="6259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ckup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four languages, not translated after the fact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mirrors the entire layout — header, cards, track rows and navigation — rather than just flipping the text. One tap on the globe button opens every language by its native name.</a:t>
            </a:r>
            <a:endParaRPr lang="en-US" sz="1300" dirty="0"/>
          </a:p>
        </p:txBody>
      </p:sp>
      <p:pic>
        <p:nvPicPr>
          <p:cNvPr id="5" name="Image 1" descr="/home/claude/mockups/home_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648" y="1874520"/>
            <a:ext cx="2035999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28328" y="6172200"/>
            <a:ext cx="25846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— right-to-left layout</a:t>
            </a:r>
            <a:endParaRPr lang="en-US" sz="1200" dirty="0"/>
          </a:p>
        </p:txBody>
      </p:sp>
      <p:pic>
        <p:nvPicPr>
          <p:cNvPr id="7" name="Image 2" descr="/home/claude/mockups/language_she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1874520"/>
            <a:ext cx="2035999" cy="4160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78728" y="6172200"/>
            <a:ext cx="25846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switcher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ckups/bg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next step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 source, mock API and translations are ready in the roma-app package.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538064" y="393192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Shape 3"/>
          <p:cNvSpPr/>
          <p:nvPr/>
        </p:nvSpPr>
        <p:spPr>
          <a:xfrm>
            <a:off x="5867248" y="3931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4"/>
          <p:cNvSpPr/>
          <p:nvPr/>
        </p:nvSpPr>
        <p:spPr>
          <a:xfrm>
            <a:off x="6196432" y="3931920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" name="Shape 5"/>
          <p:cNvSpPr/>
          <p:nvPr/>
        </p:nvSpPr>
        <p:spPr>
          <a:xfrm>
            <a:off x="6525616" y="393192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2026-08-09T01:41:15Z</dcterms:created>
  <dcterms:modified xsi:type="dcterms:W3CDTF">2026-08-09T01:41:15Z</dcterms:modified>
</cp:coreProperties>
</file>